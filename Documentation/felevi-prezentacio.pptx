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BD8D9-C5D0-4551-BEB4-3814CFC7B95D}" v="52" dt="2025-11-20T22:58:55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A50159-BC02-8F99-3208-7CA4778BA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9D4F527-A2A0-7241-081E-5E5406A3E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DC194D1-3816-9CF0-E481-C4D969E2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25D5A6-ECCD-A439-3DCF-9BFF4BBC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77668C7-FD1E-E669-ABDA-68411ABB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3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905297-79C2-94E4-3ECC-10E9F70E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FFAF02-E752-4479-EF9B-7D40D4D49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30BB85-5DEA-3F2D-B6A9-A1302D28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209581-46F6-E949-A1E3-B87905CF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55CCB3-75F7-8BC6-EB99-D152CACB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460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103777-9904-E1A3-EA36-BD420FB4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A3A11A8-89FC-6E00-DCE6-177FD13ED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A8A5E79-F5CE-BFC8-F7C2-4A6C89C3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87BD2A-C8D4-3F77-BA3E-CA66D933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AFB782-C746-81BF-4547-878B1E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441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E77F15-2727-8837-4AF3-5B87240F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C50D08-8F4E-8F22-EC00-47C008D47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EB5D141-DEFF-87AE-484C-75E552B61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86E4B4A-CF4C-ED87-0CE3-5E528ACE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2C1F87-0CD1-EBD4-FAB8-DC109333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E5C4841-07D7-6C17-EAA0-D2D92764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646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F2256E-CB0E-B697-AB43-46F4A317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2D3E3D5-A5DC-6DF8-A441-9CCE44B2F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E956766-86EC-F6FD-FEAB-574F211E5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D1A66B6-63A0-2A20-679B-C59872BC9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B02CC0F-BBEA-0AE0-62B1-8CB8083A2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D361AD4-6013-4CDC-8473-6F967E95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A77003F-F146-81FB-FC24-93AE0F19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398EC06-18EF-7BBD-2275-E0F412F9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419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2CBC57-82AB-D041-AD07-D06FF36E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38971DB-883F-8E7F-4F1C-C206FE5F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C0AA9C2-99E3-6BA6-37E6-825C528A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8848E9-9D14-4053-AF2E-87366752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72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CD9783F-9CB3-9159-C111-5845E4DCA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932A7B5-CA2E-87A6-DF80-68B7C508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F8EEC01-0BF9-3EA5-2FB1-D21251D7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817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058FDA-DDC1-150B-BAEC-AE702970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C9FDC9-057F-A077-4FAF-4358CFB2B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163007B-A39B-7B20-8E2B-AA28D187F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CF2C12B-FFB4-723F-4D2D-F7311E66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3E89CE-510B-93B8-55B4-BA0195A2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D6B4DB9-9F9C-2C5E-20B8-81C8176E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395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76ECE6-AF7C-1EA1-EE9A-E8F378F4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7E207F1-1BAB-39B3-2880-895C9D399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EF5389A-E54A-372E-BFF9-02EC5F0D4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563748D-4577-AA13-C875-7FBFC096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C3A0CF2-F18A-179D-953D-B18EC48C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0DFD917-D015-CBA8-FB36-3B23CA28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412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FA529C-842C-7768-267E-6C5626E4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DB7226E-3FA3-53B9-553C-039FAF5C0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5D1F48-2F7F-1A79-A42A-47244ACD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31B32D-A5D6-820E-1477-08C48197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984FF0-6FE0-3042-1C37-9FCE2909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609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AE152D8-DBB0-8709-ACC5-E22745C2E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C1F7498-DE75-C4C4-B627-8C67E53BD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8D1C19-1EFA-A456-E082-D20C6B62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DE98EB0-96D2-F4E9-AC47-1E450CA6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10294E-2A6A-C017-0635-06B3BA0A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78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3067975-06D8-E948-B31D-794959E8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2EEF17C-5F6C-B25E-C904-D83E30AB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2C0EADC-E432-42E0-6D28-94842BB1C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6E7F0-DE99-4C86-B3BF-D20846BF868F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9421C7-6B77-B340-18DB-32A3250B5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09456F8-4FEE-18E3-84EF-7AD759427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4207F-DD72-44FC-910B-FE8580CFD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551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697015-C977-67AC-A0A2-ED7CAD2FE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Karakterfelismerés </a:t>
            </a:r>
            <a:br>
              <a:rPr lang="en-US" sz="4800" dirty="0"/>
            </a:br>
            <a:r>
              <a:rPr lang="hu-HU" sz="4800" dirty="0"/>
              <a:t>Szorgalmi nagyházi 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6A75D38-D40D-E300-53AC-7E54F0890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sz="2000" dirty="0" err="1"/>
              <a:t>Bánfalvi</a:t>
            </a:r>
            <a:r>
              <a:rPr lang="hu-HU" sz="2000" dirty="0"/>
              <a:t>-Kovács Tivadar </a:t>
            </a:r>
            <a:r>
              <a:rPr lang="en-US" sz="2000" dirty="0"/>
              <a:t>-</a:t>
            </a:r>
            <a:r>
              <a:rPr lang="hu-HU" sz="2000" dirty="0"/>
              <a:t> PHMPDE </a:t>
            </a:r>
            <a:endParaRPr lang="en-US" sz="2000" dirty="0"/>
          </a:p>
          <a:p>
            <a:r>
              <a:rPr lang="hu-HU" sz="2000" dirty="0"/>
              <a:t>Juhász Milán </a:t>
            </a:r>
            <a:r>
              <a:rPr lang="en-US" sz="2000" dirty="0"/>
              <a:t>-</a:t>
            </a:r>
            <a:r>
              <a:rPr lang="hu-HU" sz="2000" dirty="0"/>
              <a:t> LEO234 </a:t>
            </a:r>
            <a:endParaRPr lang="en-US" sz="2000" dirty="0"/>
          </a:p>
          <a:p>
            <a:r>
              <a:rPr lang="hu-HU" sz="2000" dirty="0"/>
              <a:t>Várszegi Vince </a:t>
            </a:r>
            <a:r>
              <a:rPr lang="en-US" sz="2000" dirty="0"/>
              <a:t>-</a:t>
            </a:r>
            <a:r>
              <a:rPr lang="hu-HU" sz="2000" dirty="0"/>
              <a:t> LM5X1V</a:t>
            </a:r>
          </a:p>
        </p:txBody>
      </p:sp>
    </p:spTree>
    <p:extLst>
      <p:ext uri="{BB962C8B-B14F-4D97-AF65-F5344CB8AC3E}">
        <p14:creationId xmlns:p14="http://schemas.microsoft.com/office/powerpoint/2010/main" val="199893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F227F5-3B9E-E8FF-BAF7-B4344E4F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Adathalmaz és Kihívások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FA1374-125E-7B58-13E2-C726B2E5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203" cy="4351338"/>
          </a:xfrm>
        </p:spPr>
        <p:txBody>
          <a:bodyPr/>
          <a:lstStyle/>
          <a:p>
            <a:r>
              <a:rPr lang="hu-HU" dirty="0"/>
              <a:t>Adatok jellemzői:</a:t>
            </a:r>
            <a:endParaRPr lang="en-US" dirty="0"/>
          </a:p>
          <a:p>
            <a:pPr lvl="1"/>
            <a:r>
              <a:rPr lang="en-US" dirty="0"/>
              <a:t>M</a:t>
            </a:r>
            <a:r>
              <a:rPr lang="pl-PL" dirty="0"/>
              <a:t>appákba rendezve (számok 0-9, betűk A-Z, a-z)</a:t>
            </a:r>
            <a:endParaRPr lang="en-US" dirty="0"/>
          </a:p>
          <a:p>
            <a:pPr lvl="1"/>
            <a:r>
              <a:rPr lang="hu-HU" dirty="0"/>
              <a:t>Képméret: 128 </a:t>
            </a:r>
            <a:r>
              <a:rPr lang="en-US" dirty="0"/>
              <a:t>x </a:t>
            </a:r>
            <a:r>
              <a:rPr lang="hu-HU" dirty="0"/>
              <a:t>128 pixel, különböző betűtípusok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</a:t>
            </a:r>
            <a:r>
              <a:rPr lang="hu-HU" dirty="0" err="1"/>
              <a:t>roblémák</a:t>
            </a:r>
            <a:r>
              <a:rPr lang="en-US" dirty="0"/>
              <a:t>:</a:t>
            </a:r>
          </a:p>
          <a:p>
            <a:pPr lvl="1"/>
            <a:r>
              <a:rPr lang="hu-HU" b="1" dirty="0" err="1"/>
              <a:t>Outlierek</a:t>
            </a:r>
            <a:r>
              <a:rPr lang="hu-HU" dirty="0"/>
              <a:t>: Extrém kis méretű karakterek</a:t>
            </a:r>
            <a:endParaRPr lang="en-US" dirty="0"/>
          </a:p>
          <a:p>
            <a:pPr lvl="1"/>
            <a:r>
              <a:rPr lang="hu-HU" b="1" dirty="0"/>
              <a:t>Hasonlóság</a:t>
            </a:r>
            <a:r>
              <a:rPr lang="hu-HU" dirty="0"/>
              <a:t>: Kis- és nagybetűk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k</a:t>
            </a:r>
            <a:r>
              <a:rPr lang="hu-HU" dirty="0" err="1"/>
              <a:t>ülönböző</a:t>
            </a:r>
            <a:r>
              <a:rPr lang="hu-HU" dirty="0"/>
              <a:t> karakterek vizuális egyezése (pl. 0 </a:t>
            </a:r>
            <a:r>
              <a:rPr lang="hu-HU" dirty="0" err="1"/>
              <a:t>vs</a:t>
            </a:r>
            <a:r>
              <a:rPr lang="hu-HU" dirty="0"/>
              <a:t> O, l </a:t>
            </a:r>
            <a:r>
              <a:rPr lang="hu-HU" dirty="0" err="1"/>
              <a:t>vs</a:t>
            </a:r>
            <a:r>
              <a:rPr lang="hu-HU" dirty="0"/>
              <a:t> I)</a:t>
            </a:r>
            <a:endParaRPr lang="en-US" dirty="0"/>
          </a:p>
          <a:p>
            <a:pPr lvl="1"/>
            <a:r>
              <a:rPr lang="en-US" b="1" dirty="0"/>
              <a:t>Mi a </a:t>
            </a:r>
            <a:r>
              <a:rPr lang="en-US" b="1" dirty="0" err="1"/>
              <a:t>megold</a:t>
            </a:r>
            <a:r>
              <a:rPr lang="hu-HU" b="1" dirty="0"/>
              <a:t>ás?</a:t>
            </a:r>
            <a:endParaRPr lang="en-US" b="1" dirty="0"/>
          </a:p>
        </p:txBody>
      </p:sp>
      <p:pic>
        <p:nvPicPr>
          <p:cNvPr id="5" name="Picture 1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97891B48-DF54-E150-B44E-E045752DB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403" y="4722812"/>
            <a:ext cx="1219200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6" name="Picture 2" descr="A black swirly design on a white background&#10;&#10;AI-generated content may be incorrect.">
            <a:extLst>
              <a:ext uri="{FF2B5EF4-FFF2-40B4-BE49-F238E27FC236}">
                <a16:creationId xmlns:a16="http://schemas.microsoft.com/office/drawing/2014/main" id="{02BAD868-7C14-3FB7-B70D-ED27E4D92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353" y="4697730"/>
            <a:ext cx="1219200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3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4954EF46-B83A-9AF1-3B5F-DB6D9E36B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403" y="3206750"/>
            <a:ext cx="1219200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4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F69B5639-E39E-C265-12A9-96062332BD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353" y="3206750"/>
            <a:ext cx="1219200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429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F836F3-A539-3B53-C72B-B431375A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modell implementációja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3E4C00-D662-9DE4-96A6-86FC26845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Konvolúciós</a:t>
            </a:r>
            <a:r>
              <a:rPr lang="hu-HU" dirty="0"/>
              <a:t> neurális hálózat (CNN)</a:t>
            </a:r>
          </a:p>
          <a:p>
            <a:r>
              <a:rPr lang="hu-HU" dirty="0"/>
              <a:t>Technológia: </a:t>
            </a:r>
            <a:r>
              <a:rPr lang="hu-HU" dirty="0" err="1"/>
              <a:t>TensorFlow</a:t>
            </a:r>
            <a:r>
              <a:rPr lang="hu-HU" dirty="0"/>
              <a:t> + </a:t>
            </a:r>
            <a:r>
              <a:rPr lang="hu-HU" dirty="0" err="1"/>
              <a:t>Keras</a:t>
            </a:r>
            <a:r>
              <a:rPr lang="hu-HU" dirty="0"/>
              <a:t>, 80-20% </a:t>
            </a:r>
            <a:r>
              <a:rPr lang="hu-HU" dirty="0" err="1"/>
              <a:t>Train</a:t>
            </a:r>
            <a:r>
              <a:rPr lang="hu-HU" dirty="0"/>
              <a:t>/</a:t>
            </a:r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split</a:t>
            </a:r>
            <a:endParaRPr lang="hu-HU" dirty="0"/>
          </a:p>
          <a:p>
            <a:r>
              <a:rPr lang="es-ES" dirty="0"/>
              <a:t>4 295 678 tanítható paraméter</a:t>
            </a:r>
            <a:endParaRPr lang="hu-HU" dirty="0"/>
          </a:p>
          <a:p>
            <a:r>
              <a:rPr lang="hu-HU" dirty="0"/>
              <a:t>Architektúra:</a:t>
            </a:r>
          </a:p>
          <a:p>
            <a:pPr lvl="1"/>
            <a:r>
              <a:rPr lang="hu-HU" b="1" dirty="0"/>
              <a:t>Bemenet</a:t>
            </a:r>
            <a:r>
              <a:rPr lang="hu-HU" dirty="0"/>
              <a:t>: </a:t>
            </a:r>
            <a:r>
              <a:rPr lang="hu-HU" dirty="0" err="1"/>
              <a:t>Rescaling</a:t>
            </a:r>
            <a:r>
              <a:rPr lang="hu-HU" dirty="0"/>
              <a:t> [0, 1] tartományba </a:t>
            </a:r>
          </a:p>
          <a:p>
            <a:pPr lvl="1"/>
            <a:r>
              <a:rPr lang="hu-HU" b="1" dirty="0" err="1"/>
              <a:t>Konvolúciós</a:t>
            </a:r>
            <a:r>
              <a:rPr lang="hu-HU" b="1" dirty="0"/>
              <a:t> blokkok</a:t>
            </a:r>
            <a:r>
              <a:rPr lang="hu-HU" dirty="0"/>
              <a:t>: 3 db egymást követő blokk (32, 64, 128 filter) + MaxPooling2D </a:t>
            </a:r>
          </a:p>
          <a:p>
            <a:pPr lvl="1"/>
            <a:r>
              <a:rPr lang="hu-HU" b="1" dirty="0" err="1"/>
              <a:t>Dense</a:t>
            </a:r>
            <a:r>
              <a:rPr lang="hu-HU" b="1" dirty="0"/>
              <a:t> réteg</a:t>
            </a:r>
            <a:r>
              <a:rPr lang="hu-HU" dirty="0"/>
              <a:t>: 128 neuron, </a:t>
            </a:r>
            <a:r>
              <a:rPr lang="hu-HU" dirty="0" err="1"/>
              <a:t>ReLU</a:t>
            </a:r>
            <a:r>
              <a:rPr lang="hu-HU" dirty="0"/>
              <a:t> aktiváció </a:t>
            </a:r>
          </a:p>
          <a:p>
            <a:pPr lvl="1"/>
            <a:r>
              <a:rPr lang="hu-HU" b="1" dirty="0" err="1"/>
              <a:t>Regularizáció</a:t>
            </a:r>
            <a:r>
              <a:rPr lang="hu-HU" dirty="0"/>
              <a:t>: </a:t>
            </a:r>
            <a:r>
              <a:rPr lang="hu-HU" dirty="0" err="1"/>
              <a:t>Dropout</a:t>
            </a:r>
            <a:r>
              <a:rPr lang="hu-HU" dirty="0"/>
              <a:t> (0.5) a túlillesztés ellen </a:t>
            </a:r>
          </a:p>
          <a:p>
            <a:pPr lvl="1"/>
            <a:r>
              <a:rPr lang="hu-HU" b="1" dirty="0"/>
              <a:t>Kimenet</a:t>
            </a:r>
            <a:r>
              <a:rPr lang="hu-HU" dirty="0"/>
              <a:t>: 62 neuron (osztályok száma), </a:t>
            </a:r>
            <a:r>
              <a:rPr lang="hu-HU" dirty="0" err="1"/>
              <a:t>Softmax</a:t>
            </a:r>
            <a:r>
              <a:rPr lang="hu-HU" dirty="0"/>
              <a:t> aktiváció</a:t>
            </a:r>
          </a:p>
        </p:txBody>
      </p:sp>
    </p:spTree>
    <p:extLst>
      <p:ext uri="{BB962C8B-B14F-4D97-AF65-F5344CB8AC3E}">
        <p14:creationId xmlns:p14="http://schemas.microsoft.com/office/powerpoint/2010/main" val="79960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5D2F7A-8774-2E62-C264-22F8A30E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Első Tesztfuttatás Eredményei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D4DD68-9752-6FB0-E4F0-FDB078AA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/>
          <a:lstStyle/>
          <a:p>
            <a:r>
              <a:rPr lang="hu-HU" dirty="0"/>
              <a:t>Paraméterek:</a:t>
            </a:r>
          </a:p>
          <a:p>
            <a:pPr lvl="1"/>
            <a:r>
              <a:rPr lang="hu-HU" dirty="0"/>
              <a:t>Optimalizáló: ADAM</a:t>
            </a:r>
          </a:p>
          <a:p>
            <a:pPr lvl="1"/>
            <a:r>
              <a:rPr lang="hu-HU" dirty="0"/>
              <a:t>Tanítás: 15 </a:t>
            </a:r>
            <a:r>
              <a:rPr lang="hu-HU" dirty="0" err="1"/>
              <a:t>Epoch</a:t>
            </a:r>
            <a:r>
              <a:rPr lang="hu-HU" dirty="0"/>
              <a:t>, Batch </a:t>
            </a:r>
            <a:r>
              <a:rPr lang="hu-HU" dirty="0" err="1"/>
              <a:t>size</a:t>
            </a:r>
            <a:r>
              <a:rPr lang="hu-HU" dirty="0"/>
              <a:t>: 32 (kb. 1,5 óra)</a:t>
            </a:r>
          </a:p>
          <a:p>
            <a:pPr lvl="1"/>
            <a:endParaRPr lang="hu-HU" sz="2000" dirty="0"/>
          </a:p>
          <a:p>
            <a:r>
              <a:rPr lang="hu-HU" dirty="0"/>
              <a:t>Eredmények (15. </a:t>
            </a:r>
            <a:r>
              <a:rPr lang="hu-HU" dirty="0" err="1"/>
              <a:t>epoch</a:t>
            </a:r>
            <a:r>
              <a:rPr lang="hu-HU" dirty="0"/>
              <a:t>):</a:t>
            </a:r>
          </a:p>
          <a:p>
            <a:pPr lvl="1"/>
            <a:r>
              <a:rPr lang="hu-HU" dirty="0"/>
              <a:t>Validációs pontosság: 91.97% </a:t>
            </a:r>
          </a:p>
          <a:p>
            <a:pPr lvl="1"/>
            <a:r>
              <a:rPr lang="hu-HU" dirty="0"/>
              <a:t>Veszteség: 1.37 </a:t>
            </a:r>
            <a:r>
              <a:rPr lang="hu-HU" dirty="0">
                <a:sym typeface="Wingdings" panose="05000000000000000000" pitchFamily="2" charset="2"/>
              </a:rPr>
              <a:t> </a:t>
            </a:r>
            <a:r>
              <a:rPr lang="hu-HU" dirty="0"/>
              <a:t>0.2-re csökkent </a:t>
            </a:r>
          </a:p>
          <a:p>
            <a:pPr lvl="1"/>
            <a:r>
              <a:rPr lang="hu-HU" dirty="0"/>
              <a:t>Stabil tanulási görbe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51318F8-A255-44A4-DE8A-DD081AF9F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192" y="1391603"/>
            <a:ext cx="4741608" cy="260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B97287C-AF42-FF0E-2B36-A8470E81B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192" y="4123606"/>
            <a:ext cx="4741608" cy="263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055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FB3967-F347-31CC-07F0-D560B45E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Konklúzió és További 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D1D3DF-2B48-3D57-4982-0E9F4B94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Tapasztalatok:</a:t>
            </a:r>
          </a:p>
          <a:p>
            <a:pPr lvl="1"/>
            <a:r>
              <a:rPr lang="hu-HU" dirty="0"/>
              <a:t>Jó kezdeti pontosság (~92%) </a:t>
            </a:r>
          </a:p>
          <a:p>
            <a:pPr lvl="1"/>
            <a:r>
              <a:rPr lang="hu-HU" dirty="0"/>
              <a:t>Hosszú futási idő (</a:t>
            </a:r>
            <a:r>
              <a:rPr lang="en-US" dirty="0"/>
              <a:t>~</a:t>
            </a:r>
            <a:r>
              <a:rPr lang="hu-HU" dirty="0"/>
              <a:t>1</a:t>
            </a:r>
            <a:r>
              <a:rPr lang="en-US" dirty="0"/>
              <a:t>,5</a:t>
            </a:r>
            <a:r>
              <a:rPr lang="hu-HU" dirty="0"/>
              <a:t> óra) </a:t>
            </a:r>
            <a:r>
              <a:rPr lang="hu-HU" dirty="0">
                <a:sym typeface="Wingdings" panose="05000000000000000000" pitchFamily="2" charset="2"/>
              </a:rPr>
              <a:t> </a:t>
            </a:r>
            <a:r>
              <a:rPr lang="hu-HU" dirty="0"/>
              <a:t>lassú iteráció</a:t>
            </a:r>
          </a:p>
          <a:p>
            <a:endParaRPr lang="hu-HU" dirty="0"/>
          </a:p>
          <a:p>
            <a:r>
              <a:rPr lang="hu-HU" dirty="0"/>
              <a:t>Optimalizációs tervek:</a:t>
            </a:r>
          </a:p>
          <a:p>
            <a:pPr lvl="1"/>
            <a:r>
              <a:rPr lang="hu-HU" b="1" dirty="0"/>
              <a:t>Dinamikus vezérlés</a:t>
            </a:r>
            <a:r>
              <a:rPr lang="hu-HU" dirty="0"/>
              <a:t>: </a:t>
            </a:r>
            <a:r>
              <a:rPr lang="hu-HU" dirty="0" err="1"/>
              <a:t>Early</a:t>
            </a:r>
            <a:r>
              <a:rPr lang="hu-HU" dirty="0"/>
              <a:t> </a:t>
            </a:r>
            <a:r>
              <a:rPr lang="hu-HU" dirty="0" err="1"/>
              <a:t>Stopping</a:t>
            </a:r>
            <a:r>
              <a:rPr lang="hu-HU" dirty="0"/>
              <a:t> és </a:t>
            </a:r>
            <a:r>
              <a:rPr lang="hu-HU" dirty="0" err="1"/>
              <a:t>Checkpoint</a:t>
            </a:r>
            <a:r>
              <a:rPr lang="hu-HU" dirty="0"/>
              <a:t> bevezetése (fix </a:t>
            </a:r>
            <a:r>
              <a:rPr lang="hu-HU" dirty="0" err="1"/>
              <a:t>epoch</a:t>
            </a:r>
            <a:r>
              <a:rPr lang="hu-HU" dirty="0"/>
              <a:t> helyett) </a:t>
            </a:r>
          </a:p>
          <a:p>
            <a:pPr lvl="1"/>
            <a:r>
              <a:rPr lang="hu-HU" b="1" dirty="0"/>
              <a:t>Struktúra</a:t>
            </a:r>
            <a:r>
              <a:rPr lang="hu-HU" dirty="0"/>
              <a:t>: Batch </a:t>
            </a:r>
            <a:r>
              <a:rPr lang="hu-HU" dirty="0" err="1"/>
              <a:t>Normalization</a:t>
            </a:r>
            <a:r>
              <a:rPr lang="hu-HU" dirty="0"/>
              <a:t> és mélyebb hálózat tesztelése</a:t>
            </a:r>
          </a:p>
          <a:p>
            <a:pPr lvl="1"/>
            <a:r>
              <a:rPr lang="hu-HU" b="1" dirty="0"/>
              <a:t>Finomhangolás</a:t>
            </a:r>
            <a:r>
              <a:rPr lang="hu-HU" dirty="0"/>
              <a:t>: Vizuálisan hasonló karakterek (pl. 5/S, 0/O) célzott kezelése</a:t>
            </a:r>
          </a:p>
        </p:txBody>
      </p:sp>
    </p:spTree>
    <p:extLst>
      <p:ext uri="{BB962C8B-B14F-4D97-AF65-F5344CB8AC3E}">
        <p14:creationId xmlns:p14="http://schemas.microsoft.com/office/powerpoint/2010/main" val="166219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B0AB56-5E7B-74BB-5C50-33234D3D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</a:t>
            </a:r>
            <a:r>
              <a:rPr lang="en-US" dirty="0"/>
              <a:t>!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A74B31-353A-BAFF-3272-2E33B28C5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242C74B-3CDD-AEFA-B464-48760B7C8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377054" cy="43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1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79F542806BE907489EC6F808E95ADDC6" ma:contentTypeVersion="5" ma:contentTypeDescription="Új dokumentum létrehozása." ma:contentTypeScope="" ma:versionID="fc94d24ed8412a2fa547e1024fac2f2b">
  <xsd:schema xmlns:xsd="http://www.w3.org/2001/XMLSchema" xmlns:xs="http://www.w3.org/2001/XMLSchema" xmlns:p="http://schemas.microsoft.com/office/2006/metadata/properties" xmlns:ns3="f0c52546-88d2-4ff8-8a17-f35f3e52b710" targetNamespace="http://schemas.microsoft.com/office/2006/metadata/properties" ma:root="true" ma:fieldsID="e091c138fe7e5b067e0428d45d4a2925" ns3:_="">
    <xsd:import namespace="f0c52546-88d2-4ff8-8a17-f35f3e52b7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52546-88d2-4ff8-8a17-f35f3e52b7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839DB4-7C92-4E2E-BC01-A8110980B0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c52546-88d2-4ff8-8a17-f35f3e52b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F5F337-F8BE-4340-8C4B-4F293A57DD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3B54A9-C195-47DB-AFDB-BD8B7B758F56}">
  <ds:schemaRefs>
    <ds:schemaRef ds:uri="http://schemas.microsoft.com/office/2006/metadata/properties"/>
    <ds:schemaRef ds:uri="http://schemas.microsoft.com/office/infopath/2007/PartnerControls"/>
    <ds:schemaRef ds:uri="f0c52546-88d2-4ff8-8a17-f35f3e52b710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275</Words>
  <Application>Microsoft Office PowerPoint</Application>
  <PresentationFormat>Szélesvásznú</PresentationFormat>
  <Paragraphs>42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Office-téma</vt:lpstr>
      <vt:lpstr>Karakterfelismerés  Szorgalmi nagyházi feladat</vt:lpstr>
      <vt:lpstr>Adathalmaz és Kihívások</vt:lpstr>
      <vt:lpstr>A modell implementációja </vt:lpstr>
      <vt:lpstr>Első Tesztfuttatás Eredményei</vt:lpstr>
      <vt:lpstr>Konklúzió és További tervek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Juhász Milán</dc:creator>
  <cp:lastModifiedBy>Juhász Milán</cp:lastModifiedBy>
  <cp:revision>2</cp:revision>
  <dcterms:created xsi:type="dcterms:W3CDTF">2025-11-20T22:35:58Z</dcterms:created>
  <dcterms:modified xsi:type="dcterms:W3CDTF">2025-11-20T23:04:20Z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0x01010079F542806BE907489EC6F808E95ADDC6</vt:lpwstr>
  </property>
</Properties>
</file>